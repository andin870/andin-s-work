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0"/>
  </p:notesMasterIdLst>
  <p:handoutMasterIdLst>
    <p:handoutMasterId r:id="rId11"/>
  </p:handoutMasterIdLst>
  <p:sldIdLst>
    <p:sldId id="256" r:id="rId5"/>
    <p:sldId id="271" r:id="rId6"/>
    <p:sldId id="283" r:id="rId7"/>
    <p:sldId id="279" r:id="rId8"/>
    <p:sldId id="28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83"/>
            <p14:sldId id="279"/>
            <p14:sldId id="281"/>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241" autoAdjust="0"/>
  </p:normalViewPr>
  <p:slideViewPr>
    <p:cSldViewPr snapToGrid="0">
      <p:cViewPr varScale="1">
        <p:scale>
          <a:sx n="59" d="100"/>
          <a:sy n="59" d="100"/>
        </p:scale>
        <p:origin x="964"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SUS\Downloads\GreenTrail%20Store%20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SUS\Downloads\GreenTrail%20Store%20Dat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SUS\Downloads\GreenTrail%20Store%20Data.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Sheet1!$F$1</c:f>
              <c:strCache>
                <c:ptCount val="1"/>
                <c:pt idx="0">
                  <c:v>Weekly Sales Before Promotion</c:v>
                </c:pt>
              </c:strCache>
            </c:strRef>
          </c:tx>
          <c:spPr>
            <a:solidFill>
              <a:schemeClr val="accent1"/>
            </a:solidFill>
            <a:ln>
              <a:noFill/>
            </a:ln>
            <a:effectLst/>
            <a:sp3d/>
          </c:spPr>
          <c:invertIfNegative val="0"/>
          <c:cat>
            <c:strRef>
              <c:f>Sheet1!$E$2:$E$26</c:f>
              <c:strCache>
                <c:ptCount val="25"/>
                <c:pt idx="0">
                  <c:v>New York</c:v>
                </c:pt>
                <c:pt idx="1">
                  <c:v>Los Angeles</c:v>
                </c:pt>
                <c:pt idx="2">
                  <c:v>Chicago</c:v>
                </c:pt>
                <c:pt idx="3">
                  <c:v>Houston</c:v>
                </c:pt>
                <c:pt idx="4">
                  <c:v>Phoenix</c:v>
                </c:pt>
                <c:pt idx="5">
                  <c:v>Philadelphia</c:v>
                </c:pt>
                <c:pt idx="6">
                  <c:v>San Antonio</c:v>
                </c:pt>
                <c:pt idx="7">
                  <c:v>San Diego</c:v>
                </c:pt>
                <c:pt idx="8">
                  <c:v>Dallas</c:v>
                </c:pt>
                <c:pt idx="9">
                  <c:v>San Jose</c:v>
                </c:pt>
                <c:pt idx="10">
                  <c:v>Austin</c:v>
                </c:pt>
                <c:pt idx="11">
                  <c:v>Jacksonville</c:v>
                </c:pt>
                <c:pt idx="12">
                  <c:v>Fort Worth</c:v>
                </c:pt>
                <c:pt idx="13">
                  <c:v>Columbus</c:v>
                </c:pt>
                <c:pt idx="14">
                  <c:v>Charlotte</c:v>
                </c:pt>
                <c:pt idx="15">
                  <c:v>Detroit</c:v>
                </c:pt>
                <c:pt idx="16">
                  <c:v>El Paso</c:v>
                </c:pt>
                <c:pt idx="17">
                  <c:v>Memphis</c:v>
                </c:pt>
                <c:pt idx="18">
                  <c:v>Baltimore</c:v>
                </c:pt>
                <c:pt idx="19">
                  <c:v>Boston</c:v>
                </c:pt>
                <c:pt idx="20">
                  <c:v>Nashville</c:v>
                </c:pt>
                <c:pt idx="21">
                  <c:v>Denver</c:v>
                </c:pt>
                <c:pt idx="22">
                  <c:v>Louisville</c:v>
                </c:pt>
                <c:pt idx="23">
                  <c:v>Portland</c:v>
                </c:pt>
                <c:pt idx="24">
                  <c:v>Milwaukee</c:v>
                </c:pt>
              </c:strCache>
            </c:strRef>
          </c:cat>
          <c:val>
            <c:numRef>
              <c:f>Sheet1!$F$2:$F$26</c:f>
              <c:numCache>
                <c:formatCode>"$"#,##0.00</c:formatCode>
                <c:ptCount val="25"/>
                <c:pt idx="0">
                  <c:v>30000</c:v>
                </c:pt>
                <c:pt idx="1">
                  <c:v>35000</c:v>
                </c:pt>
                <c:pt idx="2">
                  <c:v>40000</c:v>
                </c:pt>
                <c:pt idx="3">
                  <c:v>32000</c:v>
                </c:pt>
                <c:pt idx="4">
                  <c:v>34000</c:v>
                </c:pt>
                <c:pt idx="5">
                  <c:v>31000</c:v>
                </c:pt>
                <c:pt idx="6">
                  <c:v>39000</c:v>
                </c:pt>
                <c:pt idx="7">
                  <c:v>43000</c:v>
                </c:pt>
                <c:pt idx="8">
                  <c:v>36000</c:v>
                </c:pt>
                <c:pt idx="9">
                  <c:v>33000</c:v>
                </c:pt>
                <c:pt idx="10">
                  <c:v>37000</c:v>
                </c:pt>
                <c:pt idx="11">
                  <c:v>38000</c:v>
                </c:pt>
                <c:pt idx="12">
                  <c:v>35000</c:v>
                </c:pt>
                <c:pt idx="13">
                  <c:v>35000</c:v>
                </c:pt>
                <c:pt idx="14">
                  <c:v>35000</c:v>
                </c:pt>
                <c:pt idx="15">
                  <c:v>44000</c:v>
                </c:pt>
                <c:pt idx="16">
                  <c:v>44000</c:v>
                </c:pt>
                <c:pt idx="17">
                  <c:v>35000</c:v>
                </c:pt>
                <c:pt idx="18">
                  <c:v>37000</c:v>
                </c:pt>
                <c:pt idx="19">
                  <c:v>40000</c:v>
                </c:pt>
                <c:pt idx="20">
                  <c:v>40000</c:v>
                </c:pt>
                <c:pt idx="21">
                  <c:v>40000</c:v>
                </c:pt>
                <c:pt idx="22">
                  <c:v>40000</c:v>
                </c:pt>
                <c:pt idx="23">
                  <c:v>40000</c:v>
                </c:pt>
                <c:pt idx="24">
                  <c:v>40000</c:v>
                </c:pt>
              </c:numCache>
            </c:numRef>
          </c:val>
          <c:extLst>
            <c:ext xmlns:c16="http://schemas.microsoft.com/office/drawing/2014/chart" uri="{C3380CC4-5D6E-409C-BE32-E72D297353CC}">
              <c16:uniqueId val="{00000000-56BF-4632-87E2-2D3BDC822AA3}"/>
            </c:ext>
          </c:extLst>
        </c:ser>
        <c:ser>
          <c:idx val="1"/>
          <c:order val="1"/>
          <c:tx>
            <c:strRef>
              <c:f>Sheet1!$G$1</c:f>
              <c:strCache>
                <c:ptCount val="1"/>
                <c:pt idx="0">
                  <c:v>Weekly Sales After Promotion</c:v>
                </c:pt>
              </c:strCache>
            </c:strRef>
          </c:tx>
          <c:spPr>
            <a:solidFill>
              <a:schemeClr val="accent2"/>
            </a:solidFill>
            <a:ln>
              <a:noFill/>
            </a:ln>
            <a:effectLst/>
            <a:sp3d/>
          </c:spPr>
          <c:invertIfNegative val="0"/>
          <c:cat>
            <c:strRef>
              <c:f>Sheet1!$E$2:$E$26</c:f>
              <c:strCache>
                <c:ptCount val="25"/>
                <c:pt idx="0">
                  <c:v>New York</c:v>
                </c:pt>
                <c:pt idx="1">
                  <c:v>Los Angeles</c:v>
                </c:pt>
                <c:pt idx="2">
                  <c:v>Chicago</c:v>
                </c:pt>
                <c:pt idx="3">
                  <c:v>Houston</c:v>
                </c:pt>
                <c:pt idx="4">
                  <c:v>Phoenix</c:v>
                </c:pt>
                <c:pt idx="5">
                  <c:v>Philadelphia</c:v>
                </c:pt>
                <c:pt idx="6">
                  <c:v>San Antonio</c:v>
                </c:pt>
                <c:pt idx="7">
                  <c:v>San Diego</c:v>
                </c:pt>
                <c:pt idx="8">
                  <c:v>Dallas</c:v>
                </c:pt>
                <c:pt idx="9">
                  <c:v>San Jose</c:v>
                </c:pt>
                <c:pt idx="10">
                  <c:v>Austin</c:v>
                </c:pt>
                <c:pt idx="11">
                  <c:v>Jacksonville</c:v>
                </c:pt>
                <c:pt idx="12">
                  <c:v>Fort Worth</c:v>
                </c:pt>
                <c:pt idx="13">
                  <c:v>Columbus</c:v>
                </c:pt>
                <c:pt idx="14">
                  <c:v>Charlotte</c:v>
                </c:pt>
                <c:pt idx="15">
                  <c:v>Detroit</c:v>
                </c:pt>
                <c:pt idx="16">
                  <c:v>El Paso</c:v>
                </c:pt>
                <c:pt idx="17">
                  <c:v>Memphis</c:v>
                </c:pt>
                <c:pt idx="18">
                  <c:v>Baltimore</c:v>
                </c:pt>
                <c:pt idx="19">
                  <c:v>Boston</c:v>
                </c:pt>
                <c:pt idx="20">
                  <c:v>Nashville</c:v>
                </c:pt>
                <c:pt idx="21">
                  <c:v>Denver</c:v>
                </c:pt>
                <c:pt idx="22">
                  <c:v>Louisville</c:v>
                </c:pt>
                <c:pt idx="23">
                  <c:v>Portland</c:v>
                </c:pt>
                <c:pt idx="24">
                  <c:v>Milwaukee</c:v>
                </c:pt>
              </c:strCache>
            </c:strRef>
          </c:cat>
          <c:val>
            <c:numRef>
              <c:f>Sheet1!$G$2:$G$26</c:f>
              <c:numCache>
                <c:formatCode>"$"#,##0.00</c:formatCode>
                <c:ptCount val="25"/>
                <c:pt idx="0">
                  <c:v>35000</c:v>
                </c:pt>
                <c:pt idx="1">
                  <c:v>30000</c:v>
                </c:pt>
                <c:pt idx="2">
                  <c:v>40000</c:v>
                </c:pt>
                <c:pt idx="3">
                  <c:v>33000</c:v>
                </c:pt>
                <c:pt idx="4">
                  <c:v>36000</c:v>
                </c:pt>
                <c:pt idx="5">
                  <c:v>41000</c:v>
                </c:pt>
                <c:pt idx="6">
                  <c:v>37000</c:v>
                </c:pt>
                <c:pt idx="7">
                  <c:v>39000</c:v>
                </c:pt>
                <c:pt idx="8">
                  <c:v>38000</c:v>
                </c:pt>
                <c:pt idx="9">
                  <c:v>41000</c:v>
                </c:pt>
                <c:pt idx="10">
                  <c:v>34000</c:v>
                </c:pt>
                <c:pt idx="11">
                  <c:v>42000</c:v>
                </c:pt>
                <c:pt idx="12">
                  <c:v>36000</c:v>
                </c:pt>
                <c:pt idx="13">
                  <c:v>36000</c:v>
                </c:pt>
                <c:pt idx="14">
                  <c:v>36000</c:v>
                </c:pt>
                <c:pt idx="15">
                  <c:v>42000</c:v>
                </c:pt>
                <c:pt idx="16">
                  <c:v>42000</c:v>
                </c:pt>
                <c:pt idx="17">
                  <c:v>39000</c:v>
                </c:pt>
                <c:pt idx="18">
                  <c:v>36000</c:v>
                </c:pt>
                <c:pt idx="19">
                  <c:v>41000</c:v>
                </c:pt>
                <c:pt idx="20">
                  <c:v>41000</c:v>
                </c:pt>
                <c:pt idx="21">
                  <c:v>41000</c:v>
                </c:pt>
                <c:pt idx="22">
                  <c:v>41000</c:v>
                </c:pt>
                <c:pt idx="23">
                  <c:v>41000</c:v>
                </c:pt>
                <c:pt idx="24">
                  <c:v>41000</c:v>
                </c:pt>
              </c:numCache>
            </c:numRef>
          </c:val>
          <c:extLst>
            <c:ext xmlns:c16="http://schemas.microsoft.com/office/drawing/2014/chart" uri="{C3380CC4-5D6E-409C-BE32-E72D297353CC}">
              <c16:uniqueId val="{00000001-56BF-4632-87E2-2D3BDC822AA3}"/>
            </c:ext>
          </c:extLst>
        </c:ser>
        <c:dLbls>
          <c:showLegendKey val="0"/>
          <c:showVal val="0"/>
          <c:showCatName val="0"/>
          <c:showSerName val="0"/>
          <c:showPercent val="0"/>
          <c:showBubbleSize val="0"/>
        </c:dLbls>
        <c:gapWidth val="150"/>
        <c:shape val="box"/>
        <c:axId val="1533615120"/>
        <c:axId val="1533635760"/>
        <c:axId val="0"/>
      </c:bar3DChart>
      <c:catAx>
        <c:axId val="15336151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33635760"/>
        <c:crosses val="autoZero"/>
        <c:auto val="1"/>
        <c:lblAlgn val="ctr"/>
        <c:lblOffset val="100"/>
        <c:noMultiLvlLbl val="0"/>
      </c:catAx>
      <c:valAx>
        <c:axId val="1533635760"/>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336151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Sheet1!$F$29</c:f>
              <c:strCache>
                <c:ptCount val="1"/>
                <c:pt idx="0">
                  <c:v>Average Daily Visits Before Promotion</c:v>
                </c:pt>
              </c:strCache>
            </c:strRef>
          </c:tx>
          <c:spPr>
            <a:solidFill>
              <a:schemeClr val="accent1"/>
            </a:solidFill>
            <a:ln>
              <a:noFill/>
            </a:ln>
            <a:effectLst/>
            <a:sp3d/>
          </c:spPr>
          <c:invertIfNegative val="0"/>
          <c:cat>
            <c:strRef>
              <c:f>Sheet1!$E$30:$E$54</c:f>
              <c:strCache>
                <c:ptCount val="25"/>
                <c:pt idx="0">
                  <c:v>New York</c:v>
                </c:pt>
                <c:pt idx="1">
                  <c:v>Los Angeles</c:v>
                </c:pt>
                <c:pt idx="2">
                  <c:v>Chicago</c:v>
                </c:pt>
                <c:pt idx="3">
                  <c:v>Houston</c:v>
                </c:pt>
                <c:pt idx="4">
                  <c:v>Phoenix</c:v>
                </c:pt>
                <c:pt idx="5">
                  <c:v>Philadelphia</c:v>
                </c:pt>
                <c:pt idx="6">
                  <c:v>San Antonio</c:v>
                </c:pt>
                <c:pt idx="7">
                  <c:v>San Diego</c:v>
                </c:pt>
                <c:pt idx="8">
                  <c:v>Dallas</c:v>
                </c:pt>
                <c:pt idx="9">
                  <c:v>San Jose</c:v>
                </c:pt>
                <c:pt idx="10">
                  <c:v>Austin</c:v>
                </c:pt>
                <c:pt idx="11">
                  <c:v>Jacksonville</c:v>
                </c:pt>
                <c:pt idx="12">
                  <c:v>Fort Worth</c:v>
                </c:pt>
                <c:pt idx="13">
                  <c:v>Columbus</c:v>
                </c:pt>
                <c:pt idx="14">
                  <c:v>Charlotte</c:v>
                </c:pt>
                <c:pt idx="15">
                  <c:v>Detroit</c:v>
                </c:pt>
                <c:pt idx="16">
                  <c:v>El Paso</c:v>
                </c:pt>
                <c:pt idx="17">
                  <c:v>Memphis</c:v>
                </c:pt>
                <c:pt idx="18">
                  <c:v>Baltimore</c:v>
                </c:pt>
                <c:pt idx="19">
                  <c:v>Boston</c:v>
                </c:pt>
                <c:pt idx="20">
                  <c:v>Nashville</c:v>
                </c:pt>
                <c:pt idx="21">
                  <c:v>Denver</c:v>
                </c:pt>
                <c:pt idx="22">
                  <c:v>Louisville</c:v>
                </c:pt>
                <c:pt idx="23">
                  <c:v>Portland</c:v>
                </c:pt>
                <c:pt idx="24">
                  <c:v>Milwaukee</c:v>
                </c:pt>
              </c:strCache>
            </c:strRef>
          </c:cat>
          <c:val>
            <c:numRef>
              <c:f>Sheet1!$F$30:$F$54</c:f>
              <c:numCache>
                <c:formatCode>General</c:formatCode>
                <c:ptCount val="25"/>
                <c:pt idx="0">
                  <c:v>300</c:v>
                </c:pt>
                <c:pt idx="1">
                  <c:v>400</c:v>
                </c:pt>
                <c:pt idx="2">
                  <c:v>350</c:v>
                </c:pt>
                <c:pt idx="3">
                  <c:v>350</c:v>
                </c:pt>
                <c:pt idx="4">
                  <c:v>350</c:v>
                </c:pt>
                <c:pt idx="5">
                  <c:v>350</c:v>
                </c:pt>
                <c:pt idx="6">
                  <c:v>350</c:v>
                </c:pt>
                <c:pt idx="7">
                  <c:v>420</c:v>
                </c:pt>
                <c:pt idx="8">
                  <c:v>420</c:v>
                </c:pt>
                <c:pt idx="9">
                  <c:v>320</c:v>
                </c:pt>
                <c:pt idx="10">
                  <c:v>370</c:v>
                </c:pt>
                <c:pt idx="11">
                  <c:v>360</c:v>
                </c:pt>
                <c:pt idx="12">
                  <c:v>340</c:v>
                </c:pt>
                <c:pt idx="13">
                  <c:v>400</c:v>
                </c:pt>
                <c:pt idx="14">
                  <c:v>335</c:v>
                </c:pt>
                <c:pt idx="15">
                  <c:v>430</c:v>
                </c:pt>
                <c:pt idx="16">
                  <c:v>380</c:v>
                </c:pt>
                <c:pt idx="17">
                  <c:v>330</c:v>
                </c:pt>
                <c:pt idx="18">
                  <c:v>360</c:v>
                </c:pt>
                <c:pt idx="19">
                  <c:v>390</c:v>
                </c:pt>
                <c:pt idx="20">
                  <c:v>390</c:v>
                </c:pt>
                <c:pt idx="21">
                  <c:v>390</c:v>
                </c:pt>
                <c:pt idx="22">
                  <c:v>390</c:v>
                </c:pt>
                <c:pt idx="23">
                  <c:v>390</c:v>
                </c:pt>
                <c:pt idx="24">
                  <c:v>390</c:v>
                </c:pt>
              </c:numCache>
            </c:numRef>
          </c:val>
          <c:extLst>
            <c:ext xmlns:c16="http://schemas.microsoft.com/office/drawing/2014/chart" uri="{C3380CC4-5D6E-409C-BE32-E72D297353CC}">
              <c16:uniqueId val="{00000000-F3A0-435F-935D-CFE5DFECF9E5}"/>
            </c:ext>
          </c:extLst>
        </c:ser>
        <c:ser>
          <c:idx val="1"/>
          <c:order val="1"/>
          <c:tx>
            <c:strRef>
              <c:f>Sheet1!$G$29</c:f>
              <c:strCache>
                <c:ptCount val="1"/>
                <c:pt idx="0">
                  <c:v>Average Daily Visits After Promotion</c:v>
                </c:pt>
              </c:strCache>
            </c:strRef>
          </c:tx>
          <c:spPr>
            <a:solidFill>
              <a:schemeClr val="accent2"/>
            </a:solidFill>
            <a:ln>
              <a:noFill/>
            </a:ln>
            <a:effectLst/>
            <a:sp3d/>
          </c:spPr>
          <c:invertIfNegative val="0"/>
          <c:cat>
            <c:strRef>
              <c:f>Sheet1!$E$30:$E$54</c:f>
              <c:strCache>
                <c:ptCount val="25"/>
                <c:pt idx="0">
                  <c:v>New York</c:v>
                </c:pt>
                <c:pt idx="1">
                  <c:v>Los Angeles</c:v>
                </c:pt>
                <c:pt idx="2">
                  <c:v>Chicago</c:v>
                </c:pt>
                <c:pt idx="3">
                  <c:v>Houston</c:v>
                </c:pt>
                <c:pt idx="4">
                  <c:v>Phoenix</c:v>
                </c:pt>
                <c:pt idx="5">
                  <c:v>Philadelphia</c:v>
                </c:pt>
                <c:pt idx="6">
                  <c:v>San Antonio</c:v>
                </c:pt>
                <c:pt idx="7">
                  <c:v>San Diego</c:v>
                </c:pt>
                <c:pt idx="8">
                  <c:v>Dallas</c:v>
                </c:pt>
                <c:pt idx="9">
                  <c:v>San Jose</c:v>
                </c:pt>
                <c:pt idx="10">
                  <c:v>Austin</c:v>
                </c:pt>
                <c:pt idx="11">
                  <c:v>Jacksonville</c:v>
                </c:pt>
                <c:pt idx="12">
                  <c:v>Fort Worth</c:v>
                </c:pt>
                <c:pt idx="13">
                  <c:v>Columbus</c:v>
                </c:pt>
                <c:pt idx="14">
                  <c:v>Charlotte</c:v>
                </c:pt>
                <c:pt idx="15">
                  <c:v>Detroit</c:v>
                </c:pt>
                <c:pt idx="16">
                  <c:v>El Paso</c:v>
                </c:pt>
                <c:pt idx="17">
                  <c:v>Memphis</c:v>
                </c:pt>
                <c:pt idx="18">
                  <c:v>Baltimore</c:v>
                </c:pt>
                <c:pt idx="19">
                  <c:v>Boston</c:v>
                </c:pt>
                <c:pt idx="20">
                  <c:v>Nashville</c:v>
                </c:pt>
                <c:pt idx="21">
                  <c:v>Denver</c:v>
                </c:pt>
                <c:pt idx="22">
                  <c:v>Louisville</c:v>
                </c:pt>
                <c:pt idx="23">
                  <c:v>Portland</c:v>
                </c:pt>
                <c:pt idx="24">
                  <c:v>Milwaukee</c:v>
                </c:pt>
              </c:strCache>
            </c:strRef>
          </c:cat>
          <c:val>
            <c:numRef>
              <c:f>Sheet1!$G$30:$G$54</c:f>
              <c:numCache>
                <c:formatCode>General</c:formatCode>
                <c:ptCount val="25"/>
                <c:pt idx="0">
                  <c:v>350</c:v>
                </c:pt>
                <c:pt idx="1">
                  <c:v>375</c:v>
                </c:pt>
                <c:pt idx="2">
                  <c:v>450</c:v>
                </c:pt>
                <c:pt idx="3">
                  <c:v>450</c:v>
                </c:pt>
                <c:pt idx="4">
                  <c:v>450</c:v>
                </c:pt>
                <c:pt idx="5">
                  <c:v>450</c:v>
                </c:pt>
                <c:pt idx="6">
                  <c:v>450</c:v>
                </c:pt>
                <c:pt idx="7">
                  <c:v>410</c:v>
                </c:pt>
                <c:pt idx="8">
                  <c:v>410</c:v>
                </c:pt>
                <c:pt idx="9">
                  <c:v>390</c:v>
                </c:pt>
                <c:pt idx="10">
                  <c:v>350</c:v>
                </c:pt>
                <c:pt idx="11">
                  <c:v>410</c:v>
                </c:pt>
                <c:pt idx="12">
                  <c:v>350</c:v>
                </c:pt>
                <c:pt idx="13">
                  <c:v>430</c:v>
                </c:pt>
                <c:pt idx="14">
                  <c:v>360</c:v>
                </c:pt>
                <c:pt idx="15">
                  <c:v>420</c:v>
                </c:pt>
                <c:pt idx="16">
                  <c:v>370</c:v>
                </c:pt>
                <c:pt idx="17">
                  <c:v>380</c:v>
                </c:pt>
                <c:pt idx="18">
                  <c:v>350</c:v>
                </c:pt>
                <c:pt idx="19">
                  <c:v>400</c:v>
                </c:pt>
                <c:pt idx="20">
                  <c:v>400</c:v>
                </c:pt>
                <c:pt idx="21">
                  <c:v>400</c:v>
                </c:pt>
                <c:pt idx="22">
                  <c:v>400</c:v>
                </c:pt>
                <c:pt idx="23">
                  <c:v>400</c:v>
                </c:pt>
                <c:pt idx="24">
                  <c:v>400</c:v>
                </c:pt>
              </c:numCache>
            </c:numRef>
          </c:val>
          <c:extLst>
            <c:ext xmlns:c16="http://schemas.microsoft.com/office/drawing/2014/chart" uri="{C3380CC4-5D6E-409C-BE32-E72D297353CC}">
              <c16:uniqueId val="{00000001-F3A0-435F-935D-CFE5DFECF9E5}"/>
            </c:ext>
          </c:extLst>
        </c:ser>
        <c:dLbls>
          <c:showLegendKey val="0"/>
          <c:showVal val="0"/>
          <c:showCatName val="0"/>
          <c:showSerName val="0"/>
          <c:showPercent val="0"/>
          <c:showBubbleSize val="0"/>
        </c:dLbls>
        <c:gapWidth val="150"/>
        <c:shape val="box"/>
        <c:axId val="1516683824"/>
        <c:axId val="1516707824"/>
        <c:axId val="0"/>
      </c:bar3DChart>
      <c:catAx>
        <c:axId val="151668382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16707824"/>
        <c:crosses val="autoZero"/>
        <c:auto val="1"/>
        <c:lblAlgn val="ctr"/>
        <c:lblOffset val="100"/>
        <c:noMultiLvlLbl val="0"/>
      </c:catAx>
      <c:valAx>
        <c:axId val="15167078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166838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[GreenTrail Store Data.xlsx]Store Data!PivotTable3</c:name>
    <c:fmtId val="3"/>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'Store Data'!$D$36</c:f>
              <c:strCache>
                <c:ptCount val="1"/>
                <c:pt idx="0">
                  <c:v>Sum of Weekly Sales Before Promotion</c:v>
                </c:pt>
              </c:strCache>
            </c:strRef>
          </c:tx>
          <c:spPr>
            <a:solidFill>
              <a:schemeClr val="accent1"/>
            </a:solidFill>
            <a:ln>
              <a:noFill/>
            </a:ln>
            <a:effectLst/>
          </c:spPr>
          <c:invertIfNegative val="0"/>
          <c:cat>
            <c:multiLvlStrRef>
              <c:f>'Store Data'!$C$37:$C$41</c:f>
              <c:multiLvlStrCache>
                <c:ptCount val="2"/>
                <c:lvl>
                  <c:pt idx="0">
                    <c:v>special event </c:v>
                  </c:pt>
                  <c:pt idx="1">
                    <c:v>special event </c:v>
                  </c:pt>
                </c:lvl>
                <c:lvl>
                  <c:pt idx="0">
                    <c:v>Jacksonville</c:v>
                  </c:pt>
                  <c:pt idx="1">
                    <c:v>San Antonio</c:v>
                  </c:pt>
                </c:lvl>
              </c:multiLvlStrCache>
            </c:multiLvlStrRef>
          </c:cat>
          <c:val>
            <c:numRef>
              <c:f>'Store Data'!$D$37:$D$41</c:f>
              <c:numCache>
                <c:formatCode>"$"#,##0.00</c:formatCode>
                <c:ptCount val="2"/>
                <c:pt idx="0">
                  <c:v>38000</c:v>
                </c:pt>
                <c:pt idx="1">
                  <c:v>39000</c:v>
                </c:pt>
              </c:numCache>
            </c:numRef>
          </c:val>
          <c:extLst>
            <c:ext xmlns:c16="http://schemas.microsoft.com/office/drawing/2014/chart" uri="{C3380CC4-5D6E-409C-BE32-E72D297353CC}">
              <c16:uniqueId val="{00000000-A998-4D2B-B890-8AD373966036}"/>
            </c:ext>
          </c:extLst>
        </c:ser>
        <c:ser>
          <c:idx val="1"/>
          <c:order val="1"/>
          <c:tx>
            <c:strRef>
              <c:f>'Store Data'!$E$36</c:f>
              <c:strCache>
                <c:ptCount val="1"/>
                <c:pt idx="0">
                  <c:v>Sum of Weekly Sales After Promotion</c:v>
                </c:pt>
              </c:strCache>
            </c:strRef>
          </c:tx>
          <c:spPr>
            <a:solidFill>
              <a:schemeClr val="accent2"/>
            </a:solidFill>
            <a:ln>
              <a:noFill/>
            </a:ln>
            <a:effectLst/>
          </c:spPr>
          <c:invertIfNegative val="0"/>
          <c:cat>
            <c:multiLvlStrRef>
              <c:f>'Store Data'!$C$37:$C$41</c:f>
              <c:multiLvlStrCache>
                <c:ptCount val="2"/>
                <c:lvl>
                  <c:pt idx="0">
                    <c:v>special event </c:v>
                  </c:pt>
                  <c:pt idx="1">
                    <c:v>special event </c:v>
                  </c:pt>
                </c:lvl>
                <c:lvl>
                  <c:pt idx="0">
                    <c:v>Jacksonville</c:v>
                  </c:pt>
                  <c:pt idx="1">
                    <c:v>San Antonio</c:v>
                  </c:pt>
                </c:lvl>
              </c:multiLvlStrCache>
            </c:multiLvlStrRef>
          </c:cat>
          <c:val>
            <c:numRef>
              <c:f>'Store Data'!$E$37:$E$41</c:f>
              <c:numCache>
                <c:formatCode>"$"#,##0.00</c:formatCode>
                <c:ptCount val="2"/>
                <c:pt idx="0">
                  <c:v>42000</c:v>
                </c:pt>
                <c:pt idx="1">
                  <c:v>37000</c:v>
                </c:pt>
              </c:numCache>
            </c:numRef>
          </c:val>
          <c:extLst>
            <c:ext xmlns:c16="http://schemas.microsoft.com/office/drawing/2014/chart" uri="{C3380CC4-5D6E-409C-BE32-E72D297353CC}">
              <c16:uniqueId val="{00000001-A998-4D2B-B890-8AD373966036}"/>
            </c:ext>
          </c:extLst>
        </c:ser>
        <c:ser>
          <c:idx val="2"/>
          <c:order val="2"/>
          <c:tx>
            <c:strRef>
              <c:f>'Store Data'!$F$36</c:f>
              <c:strCache>
                <c:ptCount val="1"/>
                <c:pt idx="0">
                  <c:v>Sum of Average Daily Visits Before Promotion</c:v>
                </c:pt>
              </c:strCache>
            </c:strRef>
          </c:tx>
          <c:spPr>
            <a:solidFill>
              <a:schemeClr val="accent3"/>
            </a:solidFill>
            <a:ln>
              <a:noFill/>
            </a:ln>
            <a:effectLst/>
          </c:spPr>
          <c:invertIfNegative val="0"/>
          <c:cat>
            <c:multiLvlStrRef>
              <c:f>'Store Data'!$C$37:$C$41</c:f>
              <c:multiLvlStrCache>
                <c:ptCount val="2"/>
                <c:lvl>
                  <c:pt idx="0">
                    <c:v>special event </c:v>
                  </c:pt>
                  <c:pt idx="1">
                    <c:v>special event </c:v>
                  </c:pt>
                </c:lvl>
                <c:lvl>
                  <c:pt idx="0">
                    <c:v>Jacksonville</c:v>
                  </c:pt>
                  <c:pt idx="1">
                    <c:v>San Antonio</c:v>
                  </c:pt>
                </c:lvl>
              </c:multiLvlStrCache>
            </c:multiLvlStrRef>
          </c:cat>
          <c:val>
            <c:numRef>
              <c:f>'Store Data'!$F$37:$F$41</c:f>
              <c:numCache>
                <c:formatCode>General</c:formatCode>
                <c:ptCount val="2"/>
                <c:pt idx="0">
                  <c:v>360</c:v>
                </c:pt>
                <c:pt idx="1">
                  <c:v>350</c:v>
                </c:pt>
              </c:numCache>
            </c:numRef>
          </c:val>
          <c:extLst>
            <c:ext xmlns:c16="http://schemas.microsoft.com/office/drawing/2014/chart" uri="{C3380CC4-5D6E-409C-BE32-E72D297353CC}">
              <c16:uniqueId val="{00000002-A998-4D2B-B890-8AD373966036}"/>
            </c:ext>
          </c:extLst>
        </c:ser>
        <c:ser>
          <c:idx val="3"/>
          <c:order val="3"/>
          <c:tx>
            <c:strRef>
              <c:f>'Store Data'!$G$36</c:f>
              <c:strCache>
                <c:ptCount val="1"/>
                <c:pt idx="0">
                  <c:v>Sum of Average Daily Visits After Promotion</c:v>
                </c:pt>
              </c:strCache>
            </c:strRef>
          </c:tx>
          <c:spPr>
            <a:solidFill>
              <a:schemeClr val="accent4"/>
            </a:solidFill>
            <a:ln>
              <a:noFill/>
            </a:ln>
            <a:effectLst/>
          </c:spPr>
          <c:invertIfNegative val="0"/>
          <c:cat>
            <c:multiLvlStrRef>
              <c:f>'Store Data'!$C$37:$C$41</c:f>
              <c:multiLvlStrCache>
                <c:ptCount val="2"/>
                <c:lvl>
                  <c:pt idx="0">
                    <c:v>special event </c:v>
                  </c:pt>
                  <c:pt idx="1">
                    <c:v>special event </c:v>
                  </c:pt>
                </c:lvl>
                <c:lvl>
                  <c:pt idx="0">
                    <c:v>Jacksonville</c:v>
                  </c:pt>
                  <c:pt idx="1">
                    <c:v>San Antonio</c:v>
                  </c:pt>
                </c:lvl>
              </c:multiLvlStrCache>
            </c:multiLvlStrRef>
          </c:cat>
          <c:val>
            <c:numRef>
              <c:f>'Store Data'!$G$37:$G$41</c:f>
              <c:numCache>
                <c:formatCode>General</c:formatCode>
                <c:ptCount val="2"/>
                <c:pt idx="0">
                  <c:v>410</c:v>
                </c:pt>
                <c:pt idx="1">
                  <c:v>450</c:v>
                </c:pt>
              </c:numCache>
            </c:numRef>
          </c:val>
          <c:extLst>
            <c:ext xmlns:c16="http://schemas.microsoft.com/office/drawing/2014/chart" uri="{C3380CC4-5D6E-409C-BE32-E72D297353CC}">
              <c16:uniqueId val="{00000003-A998-4D2B-B890-8AD373966036}"/>
            </c:ext>
          </c:extLst>
        </c:ser>
        <c:dLbls>
          <c:showLegendKey val="0"/>
          <c:showVal val="0"/>
          <c:showCatName val="0"/>
          <c:showSerName val="0"/>
          <c:showPercent val="0"/>
          <c:showBubbleSize val="0"/>
        </c:dLbls>
        <c:gapWidth val="219"/>
        <c:overlap val="-27"/>
        <c:axId val="1309926784"/>
        <c:axId val="1309927264"/>
      </c:barChart>
      <c:catAx>
        <c:axId val="1309926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9927264"/>
        <c:crosses val="autoZero"/>
        <c:auto val="1"/>
        <c:lblAlgn val="ctr"/>
        <c:lblOffset val="100"/>
        <c:noMultiLvlLbl val="0"/>
      </c:catAx>
      <c:valAx>
        <c:axId val="1309927264"/>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99267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3/27/2026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3/27/2026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3/27/2026</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3/27/2026</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pPr algn="ctr"/>
            <a:r>
              <a:rPr lang="en-US" sz="4800" dirty="0">
                <a:solidFill>
                  <a:schemeClr val="bg1"/>
                </a:solidFill>
                <a:latin typeface="+mn-lt"/>
              </a:rPr>
              <a:t>REPORT OF GREENTAIL OUTDOORS’ PROMOTION</a:t>
            </a:r>
          </a:p>
        </p:txBody>
      </p:sp>
      <p:sp>
        <p:nvSpPr>
          <p:cNvPr id="3" name="Subtitle 2"/>
          <p:cNvSpPr>
            <a:spLocks noGrp="1"/>
          </p:cNvSpPr>
          <p:nvPr>
            <p:ph type="subTitle" idx="4294967295"/>
          </p:nvPr>
        </p:nvSpPr>
        <p:spPr>
          <a:xfrm>
            <a:off x="544286" y="4136572"/>
            <a:ext cx="8674870" cy="892269"/>
          </a:xfrm>
        </p:spPr>
        <p:txBody>
          <a:bodyPr>
            <a:normAutofit/>
          </a:bodyPr>
          <a:lstStyle/>
          <a:p>
            <a:pPr marL="0" indent="0">
              <a:buNone/>
            </a:pPr>
            <a:r>
              <a:rPr lang="en-US" sz="2400" dirty="0">
                <a:solidFill>
                  <a:schemeClr val="bg1"/>
                </a:solidFill>
                <a:latin typeface="+mj-lt"/>
              </a:rPr>
              <a:t>By: Andini </a:t>
            </a:r>
            <a:r>
              <a:rPr lang="en-US" sz="2400" dirty="0" err="1">
                <a:solidFill>
                  <a:schemeClr val="bg1"/>
                </a:solidFill>
                <a:latin typeface="+mj-lt"/>
              </a:rPr>
              <a:t>Wijayanti</a:t>
            </a:r>
            <a:r>
              <a:rPr lang="en-US" sz="2400" dirty="0">
                <a:solidFill>
                  <a:schemeClr val="bg1"/>
                </a:solidFill>
                <a:latin typeface="+mj-lt"/>
              </a:rPr>
              <a:t>, </a:t>
            </a:r>
            <a:r>
              <a:rPr lang="en-US" sz="2400" dirty="0" err="1">
                <a:solidFill>
                  <a:schemeClr val="bg1"/>
                </a:solidFill>
                <a:latin typeface="+mj-lt"/>
              </a:rPr>
              <a:t>S.Pd</a:t>
            </a:r>
            <a:r>
              <a:rPr lang="en-US" sz="2400" dirty="0">
                <a:solidFill>
                  <a:schemeClr val="bg1"/>
                </a:solidFill>
                <a:latin typeface="+mj-lt"/>
              </a:rPr>
              <a:t>.</a:t>
            </a:r>
          </a:p>
        </p:txBody>
      </p:sp>
      <p:pic>
        <p:nvPicPr>
          <p:cNvPr id="4" name="Picture 3" descr="PowerPoint program icon"/>
          <p:cNvPicPr>
            <a:picLocks noChangeAspect="1"/>
          </p:cNvPicPr>
          <p:nvPr/>
        </p:nvPicPr>
        <p:blipFill>
          <a:blip r:embed="rId3"/>
          <a:srcRect/>
          <a:stretch/>
        </p:blipFill>
        <p:spPr bwMode="invGray">
          <a:xfrm>
            <a:off x="670216" y="5193062"/>
            <a:ext cx="822960" cy="822960"/>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11118334" cy="640080"/>
          </a:xfrm>
        </p:spPr>
        <p:txBody>
          <a:bodyPr>
            <a:noAutofit/>
          </a:bodyPr>
          <a:lstStyle/>
          <a:p>
            <a:r>
              <a:rPr lang="en-US" sz="2500" b="1" dirty="0">
                <a:latin typeface="Segoe UI Light" panose="020B0502040204020203" pitchFamily="34" charset="0"/>
                <a:cs typeface="Segoe UI Light" panose="020B0502040204020203" pitchFamily="34" charset="0"/>
              </a:rPr>
              <a:t>A. Increases and Decreases in Sales (Comparing Jacksonville between El Paso)</a:t>
            </a:r>
          </a:p>
        </p:txBody>
      </p:sp>
      <p:sp>
        <p:nvSpPr>
          <p:cNvPr id="38" name="Content Placeholder 17"/>
          <p:cNvSpPr txBox="1">
            <a:spLocks/>
          </p:cNvSpPr>
          <p:nvPr/>
        </p:nvSpPr>
        <p:spPr>
          <a:xfrm>
            <a:off x="541610" y="1524708"/>
            <a:ext cx="4321704"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graphicFrame>
        <p:nvGraphicFramePr>
          <p:cNvPr id="2" name="Chart 1">
            <a:extLst>
              <a:ext uri="{FF2B5EF4-FFF2-40B4-BE49-F238E27FC236}">
                <a16:creationId xmlns:a16="http://schemas.microsoft.com/office/drawing/2014/main" id="{D0BC4B0B-AE6D-6BB9-CCB4-DD50ACA96453}"/>
              </a:ext>
            </a:extLst>
          </p:cNvPr>
          <p:cNvGraphicFramePr>
            <a:graphicFrameLocks/>
          </p:cNvGraphicFramePr>
          <p:nvPr>
            <p:extLst>
              <p:ext uri="{D42A27DB-BD31-4B8C-83A1-F6EECF244321}">
                <p14:modId xmlns:p14="http://schemas.microsoft.com/office/powerpoint/2010/main" val="1291884150"/>
              </p:ext>
            </p:extLst>
          </p:nvPr>
        </p:nvGraphicFramePr>
        <p:xfrm>
          <a:off x="348268" y="1983036"/>
          <a:ext cx="5534739" cy="3522047"/>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Rounded Corners 11">
            <a:extLst>
              <a:ext uri="{FF2B5EF4-FFF2-40B4-BE49-F238E27FC236}">
                <a16:creationId xmlns:a16="http://schemas.microsoft.com/office/drawing/2014/main" id="{DD60E27E-E930-E108-36BC-87C0A4103196}"/>
              </a:ext>
            </a:extLst>
          </p:cNvPr>
          <p:cNvSpPr/>
          <p:nvPr/>
        </p:nvSpPr>
        <p:spPr>
          <a:xfrm>
            <a:off x="5883007" y="1352917"/>
            <a:ext cx="5767383" cy="505702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sz="1400" dirty="0"/>
              <a:t>1. The promotion in </a:t>
            </a:r>
            <a:r>
              <a:rPr lang="en-US" sz="1400" b="1" dirty="0"/>
              <a:t>Jacksonville </a:t>
            </a:r>
            <a:r>
              <a:rPr lang="en-US" sz="1400" dirty="0"/>
              <a:t>was very well received in urban areas, most likely due to higher purchasing power and a fast-paced lifestyle. In addition, the store took advantage of special events to promote its products. I think people in urban areas enjoy big events—not only do they get to window-shop, but they can also explore the products. Keep it up!</a:t>
            </a:r>
          </a:p>
          <a:p>
            <a:endParaRPr lang="en-US" sz="1400" dirty="0"/>
          </a:p>
          <a:p>
            <a:pPr lvl="0" eaLnBrk="0" fontAlgn="base" hangingPunct="0">
              <a:spcBef>
                <a:spcPct val="0"/>
              </a:spcBef>
              <a:spcAft>
                <a:spcPct val="0"/>
              </a:spcAft>
            </a:pPr>
            <a:r>
              <a:rPr lang="en-US" sz="1400" dirty="0"/>
              <a:t>2. </a:t>
            </a:r>
            <a:r>
              <a:rPr lang="en-US" sz="1400" dirty="0">
                <a:solidFill>
                  <a:schemeClr val="tx1"/>
                </a:solidFill>
                <a:latin typeface="Arial" panose="020B0604020202020204" pitchFamily="34" charset="0"/>
              </a:rPr>
              <a:t>The promotion in</a:t>
            </a:r>
            <a:r>
              <a:rPr lang="en-US" altLang="en-US" sz="1400" dirty="0">
                <a:solidFill>
                  <a:schemeClr val="tx1"/>
                </a:solidFill>
                <a:latin typeface="Arial" panose="020B0604020202020204" pitchFamily="34" charset="0"/>
              </a:rPr>
              <a:t> </a:t>
            </a:r>
            <a:r>
              <a:rPr lang="en-US" altLang="en-US" sz="1400" b="1" dirty="0">
                <a:solidFill>
                  <a:schemeClr val="tx1"/>
                </a:solidFill>
                <a:latin typeface="Arial" panose="020B0604020202020204" pitchFamily="34" charset="0"/>
              </a:rPr>
              <a:t>El Paso </a:t>
            </a:r>
            <a:r>
              <a:rPr lang="en-US" altLang="en-US" sz="1400" dirty="0">
                <a:solidFill>
                  <a:schemeClr val="tx1"/>
                </a:solidFill>
                <a:latin typeface="Arial" panose="020B0604020202020204" pitchFamily="34" charset="0"/>
              </a:rPr>
              <a:t>location have declined, likely due to a drop in purchasing power following the “buy one, get one free” promotion. Purchasing power in suburban areas is likely lower than in urban areas, especially with the “buy one, get one free” offer, since buying an item and receiving another identical one is unnecessary. Sometimes, people only need one item—not two. Therefore, we’re switching the promotion to a discount.</a:t>
            </a:r>
          </a:p>
          <a:p>
            <a:pPr lvl="0" eaLnBrk="0" fontAlgn="base" hangingPunct="0">
              <a:spcBef>
                <a:spcPct val="0"/>
              </a:spcBef>
              <a:spcAft>
                <a:spcPct val="0"/>
              </a:spcAft>
            </a:pPr>
            <a:endParaRPr lang="en-US" altLang="en-US" sz="1400" dirty="0">
              <a:solidFill>
                <a:schemeClr val="tx1"/>
              </a:solidFill>
              <a:latin typeface="Arial" panose="020B0604020202020204" pitchFamily="34" charset="0"/>
            </a:endParaRPr>
          </a:p>
          <a:p>
            <a:pPr eaLnBrk="0" fontAlgn="base" hangingPunct="0">
              <a:spcBef>
                <a:spcPct val="0"/>
              </a:spcBef>
              <a:spcAft>
                <a:spcPct val="0"/>
              </a:spcAft>
            </a:pPr>
            <a:r>
              <a:rPr lang="en-US" altLang="en-US" sz="1400" dirty="0">
                <a:solidFill>
                  <a:schemeClr val="tx1"/>
                </a:solidFill>
                <a:latin typeface="Arial" panose="020B0604020202020204" pitchFamily="34" charset="0"/>
              </a:rPr>
              <a:t>3. </a:t>
            </a:r>
            <a:r>
              <a:rPr lang="en-US" sz="1400" dirty="0"/>
              <a:t>In addition mostly store that utilize Buy One Get One (BOGO) as promotion has declined either urban or suburban. Therefore, change promotion type to discount or Special-Event can make it better. </a:t>
            </a:r>
          </a:p>
          <a:p>
            <a:pPr lvl="0" eaLnBrk="0" fontAlgn="base" hangingPunct="0">
              <a:spcBef>
                <a:spcPct val="0"/>
              </a:spcBef>
              <a:spcAft>
                <a:spcPct val="0"/>
              </a:spcAft>
            </a:pPr>
            <a:endParaRPr lang="en-US" altLang="en-US" sz="1400" dirty="0">
              <a:solidFill>
                <a:schemeClr val="tx1"/>
              </a:solidFill>
              <a:latin typeface="Arial" panose="020B0604020202020204" pitchFamily="34" charset="0"/>
            </a:endParaRPr>
          </a:p>
          <a:p>
            <a:pPr lvl="0" eaLnBrk="0" fontAlgn="base" hangingPunct="0">
              <a:spcBef>
                <a:spcPct val="0"/>
              </a:spcBef>
              <a:spcAft>
                <a:spcPct val="0"/>
              </a:spcAft>
            </a:pPr>
            <a:endParaRPr lang="en-US" altLang="en-US" sz="1400" dirty="0">
              <a:solidFill>
                <a:schemeClr val="tx1"/>
              </a:solidFill>
              <a:latin typeface="Arial" panose="020B0604020202020204" pitchFamily="34" charset="0"/>
            </a:endParaRPr>
          </a:p>
          <a:p>
            <a:endParaRPr lang="en-US" sz="1400" dirty="0"/>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91A30-8A77-E2EB-CE07-C643048D51B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681AF5C-41EF-A7A8-BB55-56947CA607EA}"/>
              </a:ext>
            </a:extLst>
          </p:cNvPr>
          <p:cNvSpPr>
            <a:spLocks noGrp="1"/>
          </p:cNvSpPr>
          <p:nvPr>
            <p:ph type="title"/>
          </p:nvPr>
        </p:nvSpPr>
        <p:spPr>
          <a:xfrm>
            <a:off x="521207" y="448056"/>
            <a:ext cx="11118334" cy="640080"/>
          </a:xfrm>
        </p:spPr>
        <p:txBody>
          <a:bodyPr>
            <a:noAutofit/>
          </a:bodyPr>
          <a:lstStyle/>
          <a:p>
            <a:r>
              <a:rPr lang="en-US" sz="2500" b="1" dirty="0">
                <a:latin typeface="Segoe UI Light" panose="020B0502040204020203" pitchFamily="34" charset="0"/>
                <a:cs typeface="Segoe UI Light" panose="020B0502040204020203" pitchFamily="34" charset="0"/>
              </a:rPr>
              <a:t>B. Increases and Decreases in Visits (Comparing Los Angeles and  )</a:t>
            </a:r>
          </a:p>
        </p:txBody>
      </p:sp>
      <p:sp>
        <p:nvSpPr>
          <p:cNvPr id="38" name="Content Placeholder 17">
            <a:extLst>
              <a:ext uri="{FF2B5EF4-FFF2-40B4-BE49-F238E27FC236}">
                <a16:creationId xmlns:a16="http://schemas.microsoft.com/office/drawing/2014/main" id="{CBD6343F-49C7-9BAF-1620-B22F48BEA47C}"/>
              </a:ext>
            </a:extLst>
          </p:cNvPr>
          <p:cNvSpPr txBox="1">
            <a:spLocks/>
          </p:cNvSpPr>
          <p:nvPr/>
        </p:nvSpPr>
        <p:spPr>
          <a:xfrm>
            <a:off x="541610" y="1524708"/>
            <a:ext cx="4321704"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
        <p:nvSpPr>
          <p:cNvPr id="12" name="Rectangle: Rounded Corners 11">
            <a:extLst>
              <a:ext uri="{FF2B5EF4-FFF2-40B4-BE49-F238E27FC236}">
                <a16:creationId xmlns:a16="http://schemas.microsoft.com/office/drawing/2014/main" id="{F9D3BE0A-1702-495E-2336-42EBCF5931E1}"/>
              </a:ext>
            </a:extLst>
          </p:cNvPr>
          <p:cNvSpPr/>
          <p:nvPr/>
        </p:nvSpPr>
        <p:spPr>
          <a:xfrm>
            <a:off x="5883007" y="1352917"/>
            <a:ext cx="5767383" cy="505702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lvl="0" eaLnBrk="0" fontAlgn="base" hangingPunct="0">
              <a:spcBef>
                <a:spcPct val="0"/>
              </a:spcBef>
              <a:spcAft>
                <a:spcPct val="0"/>
              </a:spcAft>
            </a:pPr>
            <a:r>
              <a:rPr lang="en-US" altLang="en-US" sz="1400" dirty="0">
                <a:solidFill>
                  <a:schemeClr val="tx1"/>
                </a:solidFill>
                <a:latin typeface="Arial" panose="020B0604020202020204" pitchFamily="34" charset="0"/>
              </a:rPr>
              <a:t>1. At the Los Angeles store, daily foot traffic declined following a promotional campaign. This warrants further evaluation, particularly regarding the promotional strategy and customer service. The promotion was adjusted to offer discounts, and greater emphasis was placed on customer service—such as being more welcoming to customers, providing clearer answers to their questions, and offering real-time promotions as customers arrived. </a:t>
            </a:r>
          </a:p>
          <a:p>
            <a:pPr lvl="0" eaLnBrk="0" fontAlgn="base" hangingPunct="0">
              <a:spcBef>
                <a:spcPct val="0"/>
              </a:spcBef>
              <a:spcAft>
                <a:spcPct val="0"/>
              </a:spcAft>
            </a:pPr>
            <a:br>
              <a:rPr lang="en-US" altLang="en-US" sz="1400" dirty="0">
                <a:solidFill>
                  <a:schemeClr val="tx1"/>
                </a:solidFill>
                <a:latin typeface="Arial" panose="020B0604020202020204" pitchFamily="34" charset="0"/>
              </a:rPr>
            </a:br>
            <a:r>
              <a:rPr lang="en-US" altLang="en-US" sz="1400" dirty="0">
                <a:solidFill>
                  <a:schemeClr val="tx1"/>
                </a:solidFill>
                <a:latin typeface="Arial" panose="020B0604020202020204" pitchFamily="34" charset="0"/>
              </a:rPr>
              <a:t>2. Meanwhile, the Boston store has seen an increase in daily foot traffic. This store, located in Urba, uses a “buy one, get one free” (BOGO) promotion. While the BOGO promotion is one factor contributing to the rise in daily foot traffic, it may not be the only reason; other factors, such as good service and a comfortable atmosphere, could also be driving the increase in visitors. A suggestion for the future is to use digital receipts to reduce trash paper.</a:t>
            </a:r>
          </a:p>
          <a:p>
            <a:endParaRPr lang="en-US" sz="1400" dirty="0"/>
          </a:p>
        </p:txBody>
      </p:sp>
      <p:graphicFrame>
        <p:nvGraphicFramePr>
          <p:cNvPr id="3" name="Chart 2">
            <a:extLst>
              <a:ext uri="{FF2B5EF4-FFF2-40B4-BE49-F238E27FC236}">
                <a16:creationId xmlns:a16="http://schemas.microsoft.com/office/drawing/2014/main" id="{0C678D4C-9920-8A64-1A49-DF5400DDC401}"/>
              </a:ext>
            </a:extLst>
          </p:cNvPr>
          <p:cNvGraphicFramePr>
            <a:graphicFrameLocks/>
          </p:cNvGraphicFramePr>
          <p:nvPr>
            <p:extLst>
              <p:ext uri="{D42A27DB-BD31-4B8C-83A1-F6EECF244321}">
                <p14:modId xmlns:p14="http://schemas.microsoft.com/office/powerpoint/2010/main" val="1252057416"/>
              </p:ext>
            </p:extLst>
          </p:nvPr>
        </p:nvGraphicFramePr>
        <p:xfrm>
          <a:off x="751556" y="1810258"/>
          <a:ext cx="5092259" cy="387151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325918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95481D-135C-3E1C-13C9-75BD7997DBF4}"/>
              </a:ext>
            </a:extLst>
          </p:cNvPr>
          <p:cNvSpPr>
            <a:spLocks noGrp="1"/>
          </p:cNvSpPr>
          <p:nvPr>
            <p:ph type="title"/>
          </p:nvPr>
        </p:nvSpPr>
        <p:spPr/>
        <p:txBody>
          <a:bodyPr/>
          <a:lstStyle/>
          <a:p>
            <a:r>
              <a:rPr lang="en-US" dirty="0"/>
              <a:t>C. A Suggestion for The Future</a:t>
            </a:r>
          </a:p>
        </p:txBody>
      </p:sp>
      <p:sp>
        <p:nvSpPr>
          <p:cNvPr id="7" name="Rectangle: Rounded Corners 6">
            <a:extLst>
              <a:ext uri="{FF2B5EF4-FFF2-40B4-BE49-F238E27FC236}">
                <a16:creationId xmlns:a16="http://schemas.microsoft.com/office/drawing/2014/main" id="{666F6547-AD74-ADA8-C2BB-13FC3E8DCA62}"/>
              </a:ext>
            </a:extLst>
          </p:cNvPr>
          <p:cNvSpPr/>
          <p:nvPr/>
        </p:nvSpPr>
        <p:spPr>
          <a:xfrm>
            <a:off x="5884867" y="1935881"/>
            <a:ext cx="5767383" cy="29767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sz="1600" dirty="0"/>
              <a:t>Compare the stores in San Antonio and Jacksonville. Use the same type of promotion for four weeks. Whether San Antonio experiences an increase in sales and whether Jacksonville maintains that increase or not will be a significant indicator of whether the promotion has a major impact on a store.</a:t>
            </a:r>
          </a:p>
        </p:txBody>
      </p:sp>
      <p:graphicFrame>
        <p:nvGraphicFramePr>
          <p:cNvPr id="10" name="Content Placeholder 9">
            <a:extLst>
              <a:ext uri="{FF2B5EF4-FFF2-40B4-BE49-F238E27FC236}">
                <a16:creationId xmlns:a16="http://schemas.microsoft.com/office/drawing/2014/main" id="{286FE9D7-119C-17BE-E6CD-849F35431644}"/>
              </a:ext>
            </a:extLst>
          </p:cNvPr>
          <p:cNvGraphicFramePr>
            <a:graphicFrameLocks noGrp="1"/>
          </p:cNvGraphicFramePr>
          <p:nvPr>
            <p:ph sz="quarter" idx="10"/>
            <p:extLst>
              <p:ext uri="{D42A27DB-BD31-4B8C-83A1-F6EECF244321}">
                <p14:modId xmlns:p14="http://schemas.microsoft.com/office/powerpoint/2010/main" val="2314024939"/>
              </p:ext>
            </p:extLst>
          </p:nvPr>
        </p:nvGraphicFramePr>
        <p:xfrm>
          <a:off x="539750" y="1435100"/>
          <a:ext cx="5078853" cy="39782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latin typeface="Segoe UI Light" panose="020B0502040204020203" pitchFamily="34" charset="0"/>
                <a:cs typeface="Segoe UI Light" panose="020B0502040204020203" pitchFamily="34" charset="0"/>
              </a:rPr>
              <a:t>D. Advice for The Data </a:t>
            </a:r>
          </a:p>
        </p:txBody>
      </p:sp>
      <p:sp>
        <p:nvSpPr>
          <p:cNvPr id="5" name="Content Placeholder 4"/>
          <p:cNvSpPr>
            <a:spLocks noGrp="1"/>
          </p:cNvSpPr>
          <p:nvPr>
            <p:ph sz="half" idx="4294967295"/>
          </p:nvPr>
        </p:nvSpPr>
        <p:spPr>
          <a:xfrm>
            <a:off x="7398326" y="2290981"/>
            <a:ext cx="4488874" cy="4019162"/>
          </a:xfrm>
        </p:spPr>
        <p:txBody>
          <a:bodyPr vert="horz" lIns="91440" tIns="45720" rIns="91440" bIns="45720" rtlCol="0">
            <a:normAutofit/>
          </a:bodyPr>
          <a:lstStyle/>
          <a:p>
            <a:pPr marL="0" indent="0" algn="just">
              <a:lnSpc>
                <a:spcPts val="1800"/>
              </a:lnSpc>
              <a:spcBef>
                <a:spcPts val="1000"/>
              </a:spcBef>
              <a:spcAft>
                <a:spcPts val="600"/>
              </a:spcAft>
              <a:buNone/>
            </a:pPr>
            <a:r>
              <a:rPr lang="en-US" sz="2400" dirty="0">
                <a:solidFill>
                  <a:prstClr val="black">
                    <a:lumMod val="75000"/>
                    <a:lumOff val="25000"/>
                  </a:prstClr>
                </a:solidFill>
                <a:latin typeface="Arial" panose="020B0604020202020204" pitchFamily="34" charset="0"/>
                <a:cs typeface="Arial" panose="020B0604020202020204" pitchFamily="34" charset="0"/>
              </a:rPr>
              <a:t>1. Blue shows increase in sales, whereas red shows </a:t>
            </a:r>
            <a:r>
              <a:rPr lang="en-US" sz="2400" dirty="0" err="1">
                <a:solidFill>
                  <a:prstClr val="black">
                    <a:lumMod val="75000"/>
                    <a:lumOff val="25000"/>
                  </a:prstClr>
                </a:solidFill>
                <a:latin typeface="Arial" panose="020B0604020202020204" pitchFamily="34" charset="0"/>
                <a:cs typeface="Arial" panose="020B0604020202020204" pitchFamily="34" charset="0"/>
              </a:rPr>
              <a:t>decreas</a:t>
            </a:r>
            <a:r>
              <a:rPr lang="en-US" sz="2400" dirty="0">
                <a:solidFill>
                  <a:prstClr val="black">
                    <a:lumMod val="75000"/>
                    <a:lumOff val="25000"/>
                  </a:prstClr>
                </a:solidFill>
                <a:latin typeface="Arial" panose="020B0604020202020204" pitchFamily="34" charset="0"/>
                <a:cs typeface="Arial" panose="020B0604020202020204" pitchFamily="34" charset="0"/>
              </a:rPr>
              <a:t> in sales, and yellow shows </a:t>
            </a:r>
            <a:r>
              <a:rPr lang="en-US" sz="2400" dirty="0" err="1">
                <a:solidFill>
                  <a:prstClr val="black">
                    <a:lumMod val="75000"/>
                    <a:lumOff val="25000"/>
                  </a:prstClr>
                </a:solidFill>
                <a:latin typeface="Arial" panose="020B0604020202020204" pitchFamily="34" charset="0"/>
                <a:cs typeface="Arial" panose="020B0604020202020204" pitchFamily="34" charset="0"/>
              </a:rPr>
              <a:t>stagnan</a:t>
            </a:r>
            <a:r>
              <a:rPr lang="en-US" sz="2400" dirty="0">
                <a:solidFill>
                  <a:prstClr val="black">
                    <a:lumMod val="75000"/>
                    <a:lumOff val="25000"/>
                  </a:prstClr>
                </a:solidFill>
                <a:latin typeface="Arial" panose="020B0604020202020204" pitchFamily="34" charset="0"/>
                <a:cs typeface="Arial" panose="020B0604020202020204" pitchFamily="34" charset="0"/>
              </a:rPr>
              <a:t>.</a:t>
            </a:r>
          </a:p>
          <a:p>
            <a:pPr marL="0" indent="0" algn="just">
              <a:lnSpc>
                <a:spcPts val="1800"/>
              </a:lnSpc>
              <a:spcBef>
                <a:spcPts val="1000"/>
              </a:spcBef>
              <a:spcAft>
                <a:spcPts val="600"/>
              </a:spcAft>
              <a:buNone/>
            </a:pPr>
            <a:r>
              <a:rPr lang="en-US" sz="2400" dirty="0">
                <a:solidFill>
                  <a:prstClr val="black">
                    <a:lumMod val="75000"/>
                    <a:lumOff val="25000"/>
                  </a:prstClr>
                </a:solidFill>
                <a:latin typeface="Arial" panose="020B0604020202020204" pitchFamily="34" charset="0"/>
                <a:cs typeface="Arial" panose="020B0604020202020204" pitchFamily="34" charset="0"/>
              </a:rPr>
              <a:t>2. Going forward, I hope the data provided will be comprehensive. So, that the data analysis more valid and accurate. Likely what commodity that the store sales and average weekly visits. That’s important for further analysis data. </a:t>
            </a:r>
          </a:p>
        </p:txBody>
      </p:sp>
      <p:pic>
        <p:nvPicPr>
          <p:cNvPr id="8" name="Picture 7">
            <a:extLst>
              <a:ext uri="{FF2B5EF4-FFF2-40B4-BE49-F238E27FC236}">
                <a16:creationId xmlns:a16="http://schemas.microsoft.com/office/drawing/2014/main" id="{9987CEE3-868D-8B62-9C56-C7EE9937D2FB}"/>
              </a:ext>
            </a:extLst>
          </p:cNvPr>
          <p:cNvPicPr>
            <a:picLocks noChangeAspect="1"/>
          </p:cNvPicPr>
          <p:nvPr/>
        </p:nvPicPr>
        <p:blipFill>
          <a:blip r:embed="rId2"/>
          <a:stretch>
            <a:fillRect/>
          </a:stretch>
        </p:blipFill>
        <p:spPr>
          <a:xfrm>
            <a:off x="392599" y="1931470"/>
            <a:ext cx="7005728" cy="3833952"/>
          </a:xfrm>
          <a:prstGeom prst="rect">
            <a:avLst/>
          </a:prstGeom>
        </p:spPr>
      </p:pic>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ust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 v2" id="{08D89365-2E4C-432D-9349-8DF9B80AEEA1}" vid="{010FF314-90DF-4A21-BD0D-ADCBA34234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3EE4EA-81C0-48D0-BEBD-A2EFD6B38B4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2FC9C26-AD58-4393-99DE-F67958CF6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563EE24-83AF-4B4D-B45B-11D1ECD4364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{B4233D69-BC64-43DB-BBF4-868D7C412EBC}tf10001108_win32</Template>
  <TotalTime>371</TotalTime>
  <Words>545</Words>
  <Application>Microsoft Office PowerPoint</Application>
  <PresentationFormat>Widescreen</PresentationFormat>
  <Paragraphs>20</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Segoe UI</vt:lpstr>
      <vt:lpstr>Segoe UI Light</vt:lpstr>
      <vt:lpstr>Custom</vt:lpstr>
      <vt:lpstr>REPORT OF GREENTAIL OUTDOORS’ PROMOTION</vt:lpstr>
      <vt:lpstr>A. Increases and Decreases in Sales (Comparing Jacksonville between El Paso)</vt:lpstr>
      <vt:lpstr>B. Increases and Decreases in Visits (Comparing Los Angeles and  )</vt:lpstr>
      <vt:lpstr>C. A Suggestion for The Future</vt:lpstr>
      <vt:lpstr>D. Advice for The Data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 A416J</dc:creator>
  <cp:keywords/>
  <cp:lastModifiedBy>ASUS A416J</cp:lastModifiedBy>
  <cp:revision>2</cp:revision>
  <dcterms:created xsi:type="dcterms:W3CDTF">2026-03-27T01:42:04Z</dcterms:created>
  <dcterms:modified xsi:type="dcterms:W3CDTF">2026-03-27T11:49:57Z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